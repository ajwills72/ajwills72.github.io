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9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60"/>
  </p:normalViewPr>
  <p:slideViewPr>
    <p:cSldViewPr snapToGrid="0">
      <p:cViewPr varScale="1">
        <p:scale>
          <a:sx n="120" d="100"/>
          <a:sy n="120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C524A9-335A-4C6F-A75A-AA0DF693093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42D5CB-71C1-41E8-A068-AA2ED8897E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Goodness of fit: </a:t>
          </a:r>
          <a:r>
            <a:rPr lang="en-US" dirty="0"/>
            <a:t>Extent to which a model can accommodate already-observed data pattern(s). </a:t>
          </a:r>
        </a:p>
      </dgm:t>
    </dgm:pt>
    <dgm:pt modelId="{660FCFEB-056E-4A3D-9EC5-9DCA05EE371E}" type="parTrans" cxnId="{6BD23E66-0C4A-4224-A96A-6F3A63372EA7}">
      <dgm:prSet/>
      <dgm:spPr/>
      <dgm:t>
        <a:bodyPr/>
        <a:lstStyle/>
        <a:p>
          <a:endParaRPr lang="en-US"/>
        </a:p>
      </dgm:t>
    </dgm:pt>
    <dgm:pt modelId="{DC730635-1CC5-4A22-8167-45A53476557C}" type="sibTrans" cxnId="{6BD23E66-0C4A-4224-A96A-6F3A63372EA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55BC1B7-2E8D-4107-A30E-5282C8D5D5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Model and human </a:t>
          </a:r>
          <a:r>
            <a:rPr lang="en-US" b="1" dirty="0"/>
            <a:t>heterogeneity</a:t>
          </a:r>
        </a:p>
      </dgm:t>
    </dgm:pt>
    <dgm:pt modelId="{421024AB-8370-4C3B-BCA6-722EB087690B}" type="parTrans" cxnId="{4B302B32-7A37-4A8E-AFA9-D1700458B2A2}">
      <dgm:prSet/>
      <dgm:spPr/>
      <dgm:t>
        <a:bodyPr/>
        <a:lstStyle/>
        <a:p>
          <a:endParaRPr lang="en-US"/>
        </a:p>
      </dgm:t>
    </dgm:pt>
    <dgm:pt modelId="{C4F3CB89-3305-412E-82D0-D9881810C57A}" type="sibTrans" cxnId="{4B302B32-7A37-4A8E-AFA9-D1700458B2A2}">
      <dgm:prSet/>
      <dgm:spPr/>
      <dgm:t>
        <a:bodyPr/>
        <a:lstStyle/>
        <a:p>
          <a:endParaRPr lang="en-US"/>
        </a:p>
      </dgm:t>
    </dgm:pt>
    <dgm:pt modelId="{44434C40-8BAB-40CE-8A70-94495D4A0704}" type="pres">
      <dgm:prSet presAssocID="{F3C524A9-335A-4C6F-A75A-AA0DF6930932}" presName="root" presStyleCnt="0">
        <dgm:presLayoutVars>
          <dgm:dir/>
          <dgm:resizeHandles val="exact"/>
        </dgm:presLayoutVars>
      </dgm:prSet>
      <dgm:spPr/>
    </dgm:pt>
    <dgm:pt modelId="{E1087A26-03F7-4A01-9B5A-7023BC5EEDC2}" type="pres">
      <dgm:prSet presAssocID="{F3C524A9-335A-4C6F-A75A-AA0DF6930932}" presName="container" presStyleCnt="0">
        <dgm:presLayoutVars>
          <dgm:dir/>
          <dgm:resizeHandles val="exact"/>
        </dgm:presLayoutVars>
      </dgm:prSet>
      <dgm:spPr/>
    </dgm:pt>
    <dgm:pt modelId="{F8CC4449-DB93-4BBA-9812-485AD1C0CC30}" type="pres">
      <dgm:prSet presAssocID="{9842D5CB-71C1-41E8-A068-AA2ED8897E97}" presName="compNode" presStyleCnt="0"/>
      <dgm:spPr/>
    </dgm:pt>
    <dgm:pt modelId="{EC86F2BC-167E-4191-9997-252986D9A6DC}" type="pres">
      <dgm:prSet presAssocID="{9842D5CB-71C1-41E8-A068-AA2ED8897E97}" presName="iconBgRect" presStyleLbl="bgShp" presStyleIdx="0" presStyleCnt="2"/>
      <dgm:spPr/>
    </dgm:pt>
    <dgm:pt modelId="{7F7CBF7A-68F0-41D8-AFCE-CDE92BD176F7}" type="pres">
      <dgm:prSet presAssocID="{9842D5CB-71C1-41E8-A068-AA2ED8897E9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A127D3E8-1B15-4790-9D3E-B11120BBD954}" type="pres">
      <dgm:prSet presAssocID="{9842D5CB-71C1-41E8-A068-AA2ED8897E97}" presName="spaceRect" presStyleCnt="0"/>
      <dgm:spPr/>
    </dgm:pt>
    <dgm:pt modelId="{310C6F48-28CB-4CE0-A9C3-E53969015C16}" type="pres">
      <dgm:prSet presAssocID="{9842D5CB-71C1-41E8-A068-AA2ED8897E97}" presName="textRect" presStyleLbl="revTx" presStyleIdx="0" presStyleCnt="2">
        <dgm:presLayoutVars>
          <dgm:chMax val="1"/>
          <dgm:chPref val="1"/>
        </dgm:presLayoutVars>
      </dgm:prSet>
      <dgm:spPr/>
    </dgm:pt>
    <dgm:pt modelId="{23348BC3-C4BE-43A2-8FF9-5AE39BC9CB0C}" type="pres">
      <dgm:prSet presAssocID="{DC730635-1CC5-4A22-8167-45A53476557C}" presName="sibTrans" presStyleLbl="sibTrans2D1" presStyleIdx="0" presStyleCnt="0"/>
      <dgm:spPr/>
    </dgm:pt>
    <dgm:pt modelId="{F812E507-8885-4FA8-9FB8-FB7B595F96F7}" type="pres">
      <dgm:prSet presAssocID="{555BC1B7-2E8D-4107-A30E-5282C8D5D5EC}" presName="compNode" presStyleCnt="0"/>
      <dgm:spPr/>
    </dgm:pt>
    <dgm:pt modelId="{C4051E10-B825-4776-B85A-CB9618744CD1}" type="pres">
      <dgm:prSet presAssocID="{555BC1B7-2E8D-4107-A30E-5282C8D5D5EC}" presName="iconBgRect" presStyleLbl="bgShp" presStyleIdx="1" presStyleCnt="2"/>
      <dgm:spPr/>
    </dgm:pt>
    <dgm:pt modelId="{D2343C95-4C1E-49DB-8507-4E2405C2578F}" type="pres">
      <dgm:prSet presAssocID="{555BC1B7-2E8D-4107-A30E-5282C8D5D5E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8857A12E-48B1-4D6A-92E2-593DFB962F57}" type="pres">
      <dgm:prSet presAssocID="{555BC1B7-2E8D-4107-A30E-5282C8D5D5EC}" presName="spaceRect" presStyleCnt="0"/>
      <dgm:spPr/>
    </dgm:pt>
    <dgm:pt modelId="{E38507F4-F2C0-4E1E-B32D-E00DF2876F18}" type="pres">
      <dgm:prSet presAssocID="{555BC1B7-2E8D-4107-A30E-5282C8D5D5E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B302B32-7A37-4A8E-AFA9-D1700458B2A2}" srcId="{F3C524A9-335A-4C6F-A75A-AA0DF6930932}" destId="{555BC1B7-2E8D-4107-A30E-5282C8D5D5EC}" srcOrd="1" destOrd="0" parTransId="{421024AB-8370-4C3B-BCA6-722EB087690B}" sibTransId="{C4F3CB89-3305-412E-82D0-D9881810C57A}"/>
    <dgm:cxn modelId="{65FF8B52-03C2-4254-A42F-4C3D9E3E2CA0}" type="presOf" srcId="{9842D5CB-71C1-41E8-A068-AA2ED8897E97}" destId="{310C6F48-28CB-4CE0-A9C3-E53969015C16}" srcOrd="0" destOrd="0" presId="urn:microsoft.com/office/officeart/2018/2/layout/IconCircleList"/>
    <dgm:cxn modelId="{6BD23E66-0C4A-4224-A96A-6F3A63372EA7}" srcId="{F3C524A9-335A-4C6F-A75A-AA0DF6930932}" destId="{9842D5CB-71C1-41E8-A068-AA2ED8897E97}" srcOrd="0" destOrd="0" parTransId="{660FCFEB-056E-4A3D-9EC5-9DCA05EE371E}" sibTransId="{DC730635-1CC5-4A22-8167-45A53476557C}"/>
    <dgm:cxn modelId="{101AAEB3-D6A1-4FB8-A745-4443F8E4BB2E}" type="presOf" srcId="{DC730635-1CC5-4A22-8167-45A53476557C}" destId="{23348BC3-C4BE-43A2-8FF9-5AE39BC9CB0C}" srcOrd="0" destOrd="0" presId="urn:microsoft.com/office/officeart/2018/2/layout/IconCircleList"/>
    <dgm:cxn modelId="{A10896BC-6F2D-4829-8593-CCADCF6D9F8C}" type="presOf" srcId="{555BC1B7-2E8D-4107-A30E-5282C8D5D5EC}" destId="{E38507F4-F2C0-4E1E-B32D-E00DF2876F18}" srcOrd="0" destOrd="0" presId="urn:microsoft.com/office/officeart/2018/2/layout/IconCircleList"/>
    <dgm:cxn modelId="{5014BCC1-FF77-4695-A2FD-67120A9A6DB3}" type="presOf" srcId="{F3C524A9-335A-4C6F-A75A-AA0DF6930932}" destId="{44434C40-8BAB-40CE-8A70-94495D4A0704}" srcOrd="0" destOrd="0" presId="urn:microsoft.com/office/officeart/2018/2/layout/IconCircleList"/>
    <dgm:cxn modelId="{38AF0B27-340E-4F11-8DE4-499B40A813D9}" type="presParOf" srcId="{44434C40-8BAB-40CE-8A70-94495D4A0704}" destId="{E1087A26-03F7-4A01-9B5A-7023BC5EEDC2}" srcOrd="0" destOrd="0" presId="urn:microsoft.com/office/officeart/2018/2/layout/IconCircleList"/>
    <dgm:cxn modelId="{C08F94C7-F5BA-4FBC-92AF-170EE037B34A}" type="presParOf" srcId="{E1087A26-03F7-4A01-9B5A-7023BC5EEDC2}" destId="{F8CC4449-DB93-4BBA-9812-485AD1C0CC30}" srcOrd="0" destOrd="0" presId="urn:microsoft.com/office/officeart/2018/2/layout/IconCircleList"/>
    <dgm:cxn modelId="{1FC15D0E-ECCE-416A-BF57-AAAE0C1AE9D4}" type="presParOf" srcId="{F8CC4449-DB93-4BBA-9812-485AD1C0CC30}" destId="{EC86F2BC-167E-4191-9997-252986D9A6DC}" srcOrd="0" destOrd="0" presId="urn:microsoft.com/office/officeart/2018/2/layout/IconCircleList"/>
    <dgm:cxn modelId="{F20D8296-94EE-4B48-BA69-49D15D078BD8}" type="presParOf" srcId="{F8CC4449-DB93-4BBA-9812-485AD1C0CC30}" destId="{7F7CBF7A-68F0-41D8-AFCE-CDE92BD176F7}" srcOrd="1" destOrd="0" presId="urn:microsoft.com/office/officeart/2018/2/layout/IconCircleList"/>
    <dgm:cxn modelId="{9CE52A93-5B68-4355-A26C-B16B8316A9E8}" type="presParOf" srcId="{F8CC4449-DB93-4BBA-9812-485AD1C0CC30}" destId="{A127D3E8-1B15-4790-9D3E-B11120BBD954}" srcOrd="2" destOrd="0" presId="urn:microsoft.com/office/officeart/2018/2/layout/IconCircleList"/>
    <dgm:cxn modelId="{AF8F9D27-CCEA-4AA0-BD84-FAC50738EFA0}" type="presParOf" srcId="{F8CC4449-DB93-4BBA-9812-485AD1C0CC30}" destId="{310C6F48-28CB-4CE0-A9C3-E53969015C16}" srcOrd="3" destOrd="0" presId="urn:microsoft.com/office/officeart/2018/2/layout/IconCircleList"/>
    <dgm:cxn modelId="{DF56ADAE-4815-4A15-AEE7-A5A00E25655B}" type="presParOf" srcId="{E1087A26-03F7-4A01-9B5A-7023BC5EEDC2}" destId="{23348BC3-C4BE-43A2-8FF9-5AE39BC9CB0C}" srcOrd="1" destOrd="0" presId="urn:microsoft.com/office/officeart/2018/2/layout/IconCircleList"/>
    <dgm:cxn modelId="{4F2911E9-50C9-462B-81C2-ED8EBBD835F1}" type="presParOf" srcId="{E1087A26-03F7-4A01-9B5A-7023BC5EEDC2}" destId="{F812E507-8885-4FA8-9FB8-FB7B595F96F7}" srcOrd="2" destOrd="0" presId="urn:microsoft.com/office/officeart/2018/2/layout/IconCircleList"/>
    <dgm:cxn modelId="{BA94A2FD-5742-47DE-BC8E-96602882578C}" type="presParOf" srcId="{F812E507-8885-4FA8-9FB8-FB7B595F96F7}" destId="{C4051E10-B825-4776-B85A-CB9618744CD1}" srcOrd="0" destOrd="0" presId="urn:microsoft.com/office/officeart/2018/2/layout/IconCircleList"/>
    <dgm:cxn modelId="{457B1712-65B8-4FD7-ACCF-893A643D88D5}" type="presParOf" srcId="{F812E507-8885-4FA8-9FB8-FB7B595F96F7}" destId="{D2343C95-4C1E-49DB-8507-4E2405C2578F}" srcOrd="1" destOrd="0" presId="urn:microsoft.com/office/officeart/2018/2/layout/IconCircleList"/>
    <dgm:cxn modelId="{847E7B52-5296-4186-AC23-FC968B145F31}" type="presParOf" srcId="{F812E507-8885-4FA8-9FB8-FB7B595F96F7}" destId="{8857A12E-48B1-4D6A-92E2-593DFB962F57}" srcOrd="2" destOrd="0" presId="urn:microsoft.com/office/officeart/2018/2/layout/IconCircleList"/>
    <dgm:cxn modelId="{0FB39055-EC07-4AD0-AA46-A283A61E0E6F}" type="presParOf" srcId="{F812E507-8885-4FA8-9FB8-FB7B595F96F7}" destId="{E38507F4-F2C0-4E1E-B32D-E00DF2876F1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6F2BC-167E-4191-9997-252986D9A6DC}">
      <dsp:nvSpPr>
        <dsp:cNvPr id="0" name=""/>
        <dsp:cNvSpPr/>
      </dsp:nvSpPr>
      <dsp:spPr>
        <a:xfrm>
          <a:off x="77468" y="1378526"/>
          <a:ext cx="1266306" cy="12663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CBF7A-68F0-41D8-AFCE-CDE92BD176F7}">
      <dsp:nvSpPr>
        <dsp:cNvPr id="0" name=""/>
        <dsp:cNvSpPr/>
      </dsp:nvSpPr>
      <dsp:spPr>
        <a:xfrm>
          <a:off x="343392" y="1644451"/>
          <a:ext cx="734457" cy="7344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C6F48-28CB-4CE0-A9C3-E53969015C16}">
      <dsp:nvSpPr>
        <dsp:cNvPr id="0" name=""/>
        <dsp:cNvSpPr/>
      </dsp:nvSpPr>
      <dsp:spPr>
        <a:xfrm>
          <a:off x="1615126" y="1378526"/>
          <a:ext cx="2984865" cy="1266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Goodness of fit: </a:t>
          </a:r>
          <a:r>
            <a:rPr lang="en-US" sz="2200" kern="1200" dirty="0"/>
            <a:t>Extent to which a model can accommodate already-observed data pattern(s). </a:t>
          </a:r>
        </a:p>
      </dsp:txBody>
      <dsp:txXfrm>
        <a:off x="1615126" y="1378526"/>
        <a:ext cx="2984865" cy="1266306"/>
      </dsp:txXfrm>
    </dsp:sp>
    <dsp:sp modelId="{C4051E10-B825-4776-B85A-CB9618744CD1}">
      <dsp:nvSpPr>
        <dsp:cNvPr id="0" name=""/>
        <dsp:cNvSpPr/>
      </dsp:nvSpPr>
      <dsp:spPr>
        <a:xfrm>
          <a:off x="5120081" y="1378526"/>
          <a:ext cx="1266306" cy="126630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43C95-4C1E-49DB-8507-4E2405C2578F}">
      <dsp:nvSpPr>
        <dsp:cNvPr id="0" name=""/>
        <dsp:cNvSpPr/>
      </dsp:nvSpPr>
      <dsp:spPr>
        <a:xfrm>
          <a:off x="5386005" y="1644451"/>
          <a:ext cx="734457" cy="7344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507F4-F2C0-4E1E-B32D-E00DF2876F18}">
      <dsp:nvSpPr>
        <dsp:cNvPr id="0" name=""/>
        <dsp:cNvSpPr/>
      </dsp:nvSpPr>
      <dsp:spPr>
        <a:xfrm>
          <a:off x="6657739" y="1378526"/>
          <a:ext cx="2984865" cy="1266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Model and human </a:t>
          </a:r>
          <a:r>
            <a:rPr lang="en-US" sz="2200" b="1" kern="1200" dirty="0"/>
            <a:t>heterogeneity</a:t>
          </a:r>
        </a:p>
      </dsp:txBody>
      <dsp:txXfrm>
        <a:off x="6657739" y="1378526"/>
        <a:ext cx="2984865" cy="1266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C356A-E834-D246-B8E2-6A080FAFC791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676C3-D95C-BC43-A291-96E419002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49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8FBE6-B58A-42CA-8DC1-29D9CF0196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33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/>
              <a:t>9/2/25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/>
              <a:t>9/2/25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/>
              <a:t>9/2/25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/>
              <a:t>9/2/25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/>
              <a:t>9/2/25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/>
              <a:t>9/2/25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/>
              <a:t>9/2/25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/>
              <a:t>9/2/25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/>
              <a:t>9/2/25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/>
              <a:t>9/2/25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/>
              <a:t>9/2/25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/>
              <a:pPr/>
              <a:t>9/2/25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D2E3C52-528A-4049-BCAA-5460756B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2C4AD2-105D-DBB0-0F9A-8B45AEE79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</a:rPr>
              <a:t>G-distance </a:t>
            </a: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on the comparison of model and human heterogeneity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DE73B-166B-F0CE-4D35-AB1F4D6E0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Andy J. Wills           @ajwills72</a:t>
            </a:r>
          </a:p>
          <a:p>
            <a:r>
              <a:rPr lang="en-US" dirty="0">
                <a:solidFill>
                  <a:srgbClr val="FFFFFF"/>
                </a:solidFill>
              </a:rPr>
              <a:t>Lenard Dome</a:t>
            </a: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D5B542C-8183-4445-AF4D-B23AAE32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510461-85E7-A51E-ACB9-BAD620956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735394"/>
            <a:ext cx="5369052" cy="110065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ED9B5A-5577-4CA5-97AA-0E5E2EA97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60141" y="822682"/>
            <a:ext cx="0" cy="29260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95262701-51A9-A029-E5AB-FE8EC3731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8316" y="1590779"/>
            <a:ext cx="5341140" cy="138988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24283B-587C-4A0E-A50E-B8914975B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366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9F34A0-9EFE-4C5C-5626-78BE90665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What is a model?</a:t>
            </a:r>
          </a:p>
        </p:txBody>
      </p:sp>
      <p:pic>
        <p:nvPicPr>
          <p:cNvPr id="9" name="Picture 8" descr="One big red drawing pin in front of many smaller black drawing pins">
            <a:extLst>
              <a:ext uri="{FF2B5EF4-FFF2-40B4-BE49-F238E27FC236}">
                <a16:creationId xmlns:a16="http://schemas.microsoft.com/office/drawing/2014/main" id="{031DF4C9-4B2F-0DAE-B301-BFD123B6B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97" r="1" b="4788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CC3F34-8D44-E300-1382-376905686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en-US" i="1">
                <a:solidFill>
                  <a:srgbClr val="FFFFFF"/>
                </a:solidFill>
              </a:rPr>
              <a:t>A mathematically-specified theory that is implemented as a computable algorithm for the purpose of simulating some aspect of human, or animal, behaviour.</a:t>
            </a:r>
          </a:p>
          <a:p>
            <a:r>
              <a:rPr lang="en-US">
                <a:solidFill>
                  <a:srgbClr val="FFFFFF"/>
                </a:solidFill>
              </a:rPr>
              <a:t>Wills &amp; Pothos (2012)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34142C4-EF2B-A702-0252-6C1C7D2AA5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79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F616-0123-C27F-35D0-5C1E0AC1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this model any good?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9B6EFC8-03A3-6B4D-2812-3AD754517F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226216"/>
              </p:ext>
            </p:extLst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99468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CE327-AD10-192C-AC09-34EC62010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11" y="685892"/>
            <a:ext cx="3566407" cy="37940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Model adequacy as overlapping sets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5557" y="4593863"/>
            <a:ext cx="292608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diagram of a diagram&#10;&#10;Description automatically generated">
            <a:extLst>
              <a:ext uri="{FF2B5EF4-FFF2-40B4-BE49-F238E27FC236}">
                <a16:creationId xmlns:a16="http://schemas.microsoft.com/office/drawing/2014/main" id="{4E389A66-605B-4B2B-877C-5C4F103B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11" r="7167" b="-1"/>
          <a:stretch/>
        </p:blipFill>
        <p:spPr>
          <a:xfrm>
            <a:off x="4658258" y="975"/>
            <a:ext cx="7533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73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2C2BD-0884-FA1E-BE77-588D0AC6F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B832D16-7558-4209-B5E6-60CFB7383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Oval 5">
            <a:extLst>
              <a:ext uri="{FF2B5EF4-FFF2-40B4-BE49-F238E27FC236}">
                <a16:creationId xmlns:a16="http://schemas.microsoft.com/office/drawing/2014/main" id="{0B201792-59B9-4FE8-9B2A-7F7A5AED0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61931C1-E9DE-4D66-831E-9ABDF1574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8261922-9D93-404F-9BC5-7A9376985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7B3D9AF-FD26-469D-BEF9-490ED7183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275" y="4676775"/>
            <a:ext cx="10917644" cy="1546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B99CF-FC1C-C67C-5EAE-9E8B695A5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4773068"/>
            <a:ext cx="7277100" cy="13543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pc="200">
                <a:solidFill>
                  <a:srgbClr val="FFFFFF"/>
                </a:solidFill>
              </a:rPr>
              <a:t>Model adequacy as overlapping sets</a:t>
            </a:r>
          </a:p>
        </p:txBody>
      </p:sp>
      <p:pic>
        <p:nvPicPr>
          <p:cNvPr id="10" name="Picture 9" descr="A diagram of a diagram&#10;&#10;Description automatically generated">
            <a:extLst>
              <a:ext uri="{FF2B5EF4-FFF2-40B4-BE49-F238E27FC236}">
                <a16:creationId xmlns:a16="http://schemas.microsoft.com/office/drawing/2014/main" id="{50795536-12E7-F2F2-323A-49E912D70B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11" r="7167" b="-1"/>
          <a:stretch/>
        </p:blipFill>
        <p:spPr>
          <a:xfrm>
            <a:off x="634275" y="1267928"/>
            <a:ext cx="2743200" cy="2497147"/>
          </a:xfrm>
          <a:prstGeom prst="rect">
            <a:avLst/>
          </a:prstGeom>
        </p:spPr>
      </p:pic>
      <p:pic>
        <p:nvPicPr>
          <p:cNvPr id="5" name="Picture 4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FD8E6801-D2C8-903D-01E9-927362E7B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169" y="1909176"/>
            <a:ext cx="2743200" cy="1357459"/>
          </a:xfrm>
          <a:prstGeom prst="rect">
            <a:avLst/>
          </a:prstGeom>
        </p:spPr>
      </p:pic>
      <p:pic>
        <p:nvPicPr>
          <p:cNvPr id="7" name="Picture 6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4020DCDB-F960-2197-CF65-2A7D0BDA85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931" y="1909176"/>
            <a:ext cx="2743200" cy="1214650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52A8E97-9931-4619-BE56-A5D8C6AF9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499305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311BE93-BBF9-CC97-FA4D-E4785D331F55}"/>
              </a:ext>
            </a:extLst>
          </p:cNvPr>
          <p:cNvSpPr txBox="1"/>
          <p:nvPr/>
        </p:nvSpPr>
        <p:spPr>
          <a:xfrm>
            <a:off x="4144104" y="3616881"/>
            <a:ext cx="27462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Accommodation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E67BC-E354-9699-AB04-41B589BC4930}"/>
              </a:ext>
            </a:extLst>
          </p:cNvPr>
          <p:cNvSpPr txBox="1"/>
          <p:nvPr/>
        </p:nvSpPr>
        <p:spPr>
          <a:xfrm>
            <a:off x="8444931" y="3616882"/>
            <a:ext cx="28364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Excess flexibility</a:t>
            </a:r>
          </a:p>
        </p:txBody>
      </p:sp>
    </p:spTree>
    <p:extLst>
      <p:ext uri="{BB962C8B-B14F-4D97-AF65-F5344CB8AC3E}">
        <p14:creationId xmlns:p14="http://schemas.microsoft.com/office/powerpoint/2010/main" val="370629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7B481-F99E-F2AA-DC98-7523781E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G-distance</a:t>
            </a:r>
          </a:p>
        </p:txBody>
      </p:sp>
      <p:pic>
        <p:nvPicPr>
          <p:cNvPr id="4" name="Picture 3" descr="A graph of degenerate level&#10;&#10;Description automatically generated">
            <a:extLst>
              <a:ext uri="{FF2B5EF4-FFF2-40B4-BE49-F238E27FC236}">
                <a16:creationId xmlns:a16="http://schemas.microsoft.com/office/drawing/2014/main" id="{C9DD5EBC-5390-78F2-F8F6-4C01221DD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490" y="585216"/>
            <a:ext cx="5687568" cy="5687568"/>
          </a:xfrm>
          <a:prstGeom prst="rect">
            <a:avLst/>
          </a:prstGeom>
        </p:spPr>
      </p:pic>
      <p:pic>
        <p:nvPicPr>
          <p:cNvPr id="6" name="Picture 5" descr="A square with numbers and a square in it&#10;&#10;Description automatically generated with medium confidence">
            <a:extLst>
              <a:ext uri="{FF2B5EF4-FFF2-40B4-BE49-F238E27FC236}">
                <a16:creationId xmlns:a16="http://schemas.microsoft.com/office/drawing/2014/main" id="{AC2456B7-66CF-A130-59A2-1C4E27B19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888273"/>
            <a:ext cx="3076136" cy="108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270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DD31783-EC78-5A4B-E26E-2992BB7E15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24128" y="1885919"/>
            <a:ext cx="10525832" cy="5262916"/>
          </a:xfrm>
        </p:spPr>
      </p:pic>
      <p:pic>
        <p:nvPicPr>
          <p:cNvPr id="8" name="Content Placeholder 7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23145195-940A-8D29-460C-496FDE3CCC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401147" y="585216"/>
            <a:ext cx="5589589" cy="175540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522EEE6-56F0-F8F6-C3B5-E77083B7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450166"/>
            <a:ext cx="2169238" cy="1890458"/>
          </a:xfrm>
        </p:spPr>
        <p:txBody>
          <a:bodyPr>
            <a:normAutofit fontScale="90000"/>
          </a:bodyPr>
          <a:lstStyle/>
          <a:p>
            <a:r>
              <a:rPr lang="en-US" dirty="0"/>
              <a:t>Inverse base-rate effect</a:t>
            </a:r>
          </a:p>
        </p:txBody>
      </p:sp>
    </p:spTree>
    <p:extLst>
      <p:ext uri="{BB962C8B-B14F-4D97-AF65-F5344CB8AC3E}">
        <p14:creationId xmlns:p14="http://schemas.microsoft.com/office/powerpoint/2010/main" val="362761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30ECD-6E74-B5E4-DAFD-D8F671DA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AC604056-8026-A409-F919-CBA266E422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84359" y="135050"/>
            <a:ext cx="5589589" cy="175540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4A4F410-0985-9D64-A784-D6BC0B3E9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450166"/>
            <a:ext cx="2169238" cy="1890458"/>
          </a:xfrm>
        </p:spPr>
        <p:txBody>
          <a:bodyPr>
            <a:normAutofit fontScale="90000"/>
          </a:bodyPr>
          <a:lstStyle/>
          <a:p>
            <a:r>
              <a:rPr lang="en-US" dirty="0"/>
              <a:t>Inverse base-rate effect</a:t>
            </a:r>
          </a:p>
        </p:txBody>
      </p:sp>
      <p:pic>
        <p:nvPicPr>
          <p:cNvPr id="6" name="Picture 5" descr="A table with black and white text&#10;&#10;Description automatically generated">
            <a:extLst>
              <a:ext uri="{FF2B5EF4-FFF2-40B4-BE49-F238E27FC236}">
                <a16:creationId xmlns:a16="http://schemas.microsoft.com/office/drawing/2014/main" id="{BE8DB2DC-9F39-B4E7-599C-E7D9925A2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59" y="2546350"/>
            <a:ext cx="4543669" cy="3997278"/>
          </a:xfrm>
          <a:prstGeom prst="rect">
            <a:avLst/>
          </a:prstGeom>
        </p:spPr>
      </p:pic>
      <p:pic>
        <p:nvPicPr>
          <p:cNvPr id="9" name="Picture 8" descr="A graph of a number&#10;&#10;Description automatically generated">
            <a:extLst>
              <a:ext uri="{FF2B5EF4-FFF2-40B4-BE49-F238E27FC236}">
                <a16:creationId xmlns:a16="http://schemas.microsoft.com/office/drawing/2014/main" id="{A293A5E2-B4CB-09EF-FF8D-EFBDD13A9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359" y="2266450"/>
            <a:ext cx="4426341" cy="45570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721A6A-AE5E-B231-575C-A0E461B708C8}"/>
              </a:ext>
            </a:extLst>
          </p:cNvPr>
          <p:cNvSpPr txBox="1"/>
          <p:nvPr/>
        </p:nvSpPr>
        <p:spPr>
          <a:xfrm>
            <a:off x="9010877" y="2782669"/>
            <a:ext cx="1407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|U| = 2,131</a:t>
            </a:r>
          </a:p>
          <a:p>
            <a:r>
              <a:rPr lang="en-US" dirty="0"/>
              <a:t>|H| = 90</a:t>
            </a:r>
          </a:p>
        </p:txBody>
      </p:sp>
    </p:spTree>
    <p:extLst>
      <p:ext uri="{BB962C8B-B14F-4D97-AF65-F5344CB8AC3E}">
        <p14:creationId xmlns:p14="http://schemas.microsoft.com/office/powerpoint/2010/main" val="1204345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3B9B52-0B42-6B43-CA20-3D6FB801B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US" dirty="0"/>
              <a:t>MODELS OF THE IBRE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59DC0-3DD9-C311-5004-23C0D7DE7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>
            <a:normAutofit/>
          </a:bodyPr>
          <a:lstStyle/>
          <a:p>
            <a:r>
              <a:rPr lang="en-US" dirty="0"/>
              <a:t>- Attentional associative-learning models</a:t>
            </a:r>
          </a:p>
          <a:p>
            <a:pPr lvl="1"/>
            <a:r>
              <a:rPr lang="en-US" dirty="0"/>
              <a:t>EXIT (</a:t>
            </a:r>
            <a:r>
              <a:rPr lang="en-US" dirty="0" err="1"/>
              <a:t>Kruschke</a:t>
            </a:r>
            <a:r>
              <a:rPr lang="en-US" dirty="0"/>
              <a:t>, 2001) - </a:t>
            </a:r>
            <a:r>
              <a:rPr lang="en-US" dirty="0">
                <a:solidFill>
                  <a:srgbClr val="FF0000"/>
                </a:solidFill>
              </a:rPr>
              <a:t>”Market leader”</a:t>
            </a:r>
          </a:p>
          <a:p>
            <a:pPr lvl="1"/>
            <a:r>
              <a:rPr lang="en-US" dirty="0"/>
              <a:t>NNRAS, NNCAG (Jones &amp; </a:t>
            </a:r>
            <a:r>
              <a:rPr lang="en-US" dirty="0" err="1"/>
              <a:t>Paskewitz</a:t>
            </a:r>
            <a:r>
              <a:rPr lang="en-US" dirty="0"/>
              <a:t>, 2020) – Simplified versions of EXIT</a:t>
            </a:r>
          </a:p>
          <a:p>
            <a:pPr marL="128016" lvl="1" indent="0">
              <a:buNone/>
            </a:pPr>
            <a:endParaRPr lang="en-US" dirty="0"/>
          </a:p>
          <a:p>
            <a:r>
              <a:rPr lang="en-US" dirty="0"/>
              <a:t>- Plain-associative model (</a:t>
            </a:r>
            <a:r>
              <a:rPr lang="en-US" b="1" dirty="0"/>
              <a:t>known poor model)</a:t>
            </a:r>
          </a:p>
          <a:p>
            <a:pPr lvl="1"/>
            <a:r>
              <a:rPr lang="en-US" dirty="0"/>
              <a:t>LMSNET (Gluck &amp; Bower, 1988; see also Rescorla &amp; Wagner, 1972). </a:t>
            </a:r>
          </a:p>
          <a:p>
            <a:pPr marL="128016" lvl="1" indent="0">
              <a:buNone/>
            </a:pPr>
            <a:endParaRPr lang="en-US" dirty="0"/>
          </a:p>
          <a:p>
            <a:r>
              <a:rPr lang="en-US" dirty="0"/>
              <a:t>- Dissimilarity-Exemplar models</a:t>
            </a:r>
          </a:p>
          <a:p>
            <a:pPr lvl="1"/>
            <a:r>
              <a:rPr lang="en-US" dirty="0"/>
              <a:t>DGCM18 (O’Bryan et al., 2018)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Picture 7" descr="Red toy person in front of two lines of white figures">
            <a:extLst>
              <a:ext uri="{FF2B5EF4-FFF2-40B4-BE49-F238E27FC236}">
                <a16:creationId xmlns:a16="http://schemas.microsoft.com/office/drawing/2014/main" id="{1B113FA8-C66D-0594-4088-9C780FBB6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86" r="25831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9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D91A-9517-2AB8-B9E6-CA20FF0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adequacy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EB62BB-8FFE-D968-69E3-C4BB2AFC6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8775" y="376351"/>
            <a:ext cx="6614073" cy="610529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8A9BC4-283B-D57D-15E7-CA786E5BBB3C}"/>
              </a:ext>
            </a:extLst>
          </p:cNvPr>
          <p:cNvSpPr txBox="1"/>
          <p:nvPr/>
        </p:nvSpPr>
        <p:spPr>
          <a:xfrm>
            <a:off x="7385539" y="2433711"/>
            <a:ext cx="246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Split-half on human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60C589-5656-03A8-3B8D-6051F3B9D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52" y="2293697"/>
            <a:ext cx="4990080" cy="264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9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AA55E-1F12-1EBF-BD79-E63E8B4EE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5E058-0292-1772-B470-37243EBD0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760483"/>
            <a:ext cx="6066818" cy="4023360"/>
          </a:xfrm>
        </p:spPr>
        <p:txBody>
          <a:bodyPr>
            <a:noAutofit/>
          </a:bodyPr>
          <a:lstStyle/>
          <a:p>
            <a:r>
              <a:rPr lang="en-US" sz="2000" dirty="0"/>
              <a:t>- g-distance is a formal measure of model adequacy, which combines:</a:t>
            </a:r>
          </a:p>
          <a:p>
            <a:pPr lvl="1"/>
            <a:r>
              <a:rPr lang="en-US" sz="2000" dirty="0"/>
              <a:t>Accommodation</a:t>
            </a:r>
          </a:p>
          <a:p>
            <a:pPr lvl="1"/>
            <a:r>
              <a:rPr lang="en-US" sz="2000" dirty="0"/>
              <a:t>Excess flexibility</a:t>
            </a:r>
          </a:p>
          <a:p>
            <a:r>
              <a:rPr lang="en-US" sz="2000" dirty="0"/>
              <a:t>- The inverse base-rate effect (IBRE) is a robust non-rational learning phenomenon.</a:t>
            </a:r>
          </a:p>
          <a:p>
            <a:r>
              <a:rPr lang="en-US" sz="2000" dirty="0"/>
              <a:t>- Applying g-distance to models of the IBRE</a:t>
            </a:r>
          </a:p>
          <a:p>
            <a:pPr lvl="1"/>
            <a:r>
              <a:rPr lang="en-US" sz="2000" dirty="0"/>
              <a:t>The success of ‘market leader’ model EXIT may be due to its excess flexibility</a:t>
            </a:r>
          </a:p>
          <a:p>
            <a:pPr lvl="1"/>
            <a:r>
              <a:rPr lang="en-US" sz="2000" dirty="0"/>
              <a:t>It’s simpler derivative (NNRAS) and a notable alternative (DGCM18) generally outperformed EXIT</a:t>
            </a:r>
          </a:p>
          <a:p>
            <a:r>
              <a:rPr lang="en-US" sz="2000" dirty="0"/>
              <a:t>- At least in the current case, g-distance better captures model adequacy than the commonly-used Bayesian Information Criterion (BIC) metric. </a:t>
            </a:r>
          </a:p>
        </p:txBody>
      </p:sp>
      <p:pic>
        <p:nvPicPr>
          <p:cNvPr id="5" name="Picture 4" descr="Domino effect white cut-outs and one blue cutout">
            <a:extLst>
              <a:ext uri="{FF2B5EF4-FFF2-40B4-BE49-F238E27FC236}">
                <a16:creationId xmlns:a16="http://schemas.microsoft.com/office/drawing/2014/main" id="{34D24B68-8DDD-14B3-65C4-76E233E250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596" r="9244" b="-1"/>
          <a:stretch/>
        </p:blipFill>
        <p:spPr>
          <a:xfrm>
            <a:off x="7552267" y="0"/>
            <a:ext cx="463973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03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1">
            <a:extLst>
              <a:ext uri="{FF2B5EF4-FFF2-40B4-BE49-F238E27FC236}">
                <a16:creationId xmlns:a16="http://schemas.microsoft.com/office/drawing/2014/main" id="{62B42451-9FD8-49AA-9DB1-46C6B48ADB49}"/>
              </a:ext>
            </a:extLst>
          </p:cNvPr>
          <p:cNvSpPr txBox="1"/>
          <p:nvPr/>
        </p:nvSpPr>
        <p:spPr>
          <a:xfrm>
            <a:off x="5667153" y="1317469"/>
            <a:ext cx="6122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b="1" dirty="0">
                <a:solidFill>
                  <a:srgbClr val="004F6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Special Issue: Advanced Studies in Human-</a:t>
            </a:r>
            <a:r>
              <a:rPr lang="en-US" altLang="zh-CN" b="1" dirty="0" err="1">
                <a:solidFill>
                  <a:srgbClr val="004F6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Centred</a:t>
            </a:r>
            <a:r>
              <a:rPr lang="en-US" altLang="zh-CN" b="1" dirty="0">
                <a:solidFill>
                  <a:srgbClr val="004F6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  <a:endParaRPr lang="en-US" sz="2800" b="1" dirty="0">
              <a:solidFill>
                <a:srgbClr val="004F6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连接符 9">
            <a:extLst>
              <a:ext uri="{FF2B5EF4-FFF2-40B4-BE49-F238E27FC236}">
                <a16:creationId xmlns:a16="http://schemas.microsoft.com/office/drawing/2014/main" id="{A396E0B9-4F87-4C39-8196-3E3793C76C11}"/>
              </a:ext>
            </a:extLst>
          </p:cNvPr>
          <p:cNvCxnSpPr>
            <a:cxnSpLocks/>
          </p:cNvCxnSpPr>
          <p:nvPr/>
        </p:nvCxnSpPr>
        <p:spPr>
          <a:xfrm>
            <a:off x="5667153" y="1773112"/>
            <a:ext cx="6122769" cy="0"/>
          </a:xfrm>
          <a:prstGeom prst="line">
            <a:avLst/>
          </a:prstGeom>
          <a:ln w="47625">
            <a:solidFill>
              <a:srgbClr val="004F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9045AAE-267E-4AF6-894F-D57F8D69B281}"/>
              </a:ext>
            </a:extLst>
          </p:cNvPr>
          <p:cNvSpPr txBox="1"/>
          <p:nvPr/>
        </p:nvSpPr>
        <p:spPr>
          <a:xfrm>
            <a:off x="7604280" y="1859424"/>
            <a:ext cx="2124109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altLang="zh-CN" sz="1600" b="1" dirty="0">
                <a:solidFill>
                  <a:srgbClr val="004F6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Guest Editor</a:t>
            </a:r>
          </a:p>
          <a:p>
            <a:pPr algn="just">
              <a:spcAft>
                <a:spcPts val="400"/>
              </a:spcAft>
            </a:pPr>
            <a:r>
              <a:rPr lang="en-US" sz="1400" b="1" dirty="0">
                <a:solidFill>
                  <a:srgbClr val="004F6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Andy J. Wills</a:t>
            </a:r>
            <a:endParaRPr lang="it-IT" sz="1600" b="1" dirty="0">
              <a:solidFill>
                <a:srgbClr val="004F6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Plymouth University</a:t>
            </a:r>
          </a:p>
          <a:p>
            <a:pPr algn="just">
              <a:spcAft>
                <a:spcPts val="400"/>
              </a:spcAft>
            </a:pPr>
            <a:endParaRPr lang="it-IT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</a:pPr>
            <a:endParaRPr lang="it-IT" sz="1600" b="1" dirty="0">
              <a:solidFill>
                <a:srgbClr val="004F6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</a:pPr>
            <a:endParaRPr lang="it-IT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</a:pPr>
            <a:endParaRPr lang="it-IT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spcAft>
                <a:spcPts val="400"/>
              </a:spcAft>
            </a:pPr>
            <a:endParaRPr lang="en-US" altLang="zh-CN" sz="1600" b="1" dirty="0">
              <a:solidFill>
                <a:srgbClr val="004F6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">
            <a:extLst>
              <a:ext uri="{FF2B5EF4-FFF2-40B4-BE49-F238E27FC236}">
                <a16:creationId xmlns:a16="http://schemas.microsoft.com/office/drawing/2014/main" id="{84CBB81A-A9B9-4390-97DB-18F958A51743}"/>
              </a:ext>
            </a:extLst>
          </p:cNvPr>
          <p:cNvSpPr txBox="1"/>
          <p:nvPr/>
        </p:nvSpPr>
        <p:spPr>
          <a:xfrm>
            <a:off x="5808439" y="3696742"/>
            <a:ext cx="5981483" cy="1620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n-US" altLang="zh-CN" sz="1600" b="1" dirty="0">
                <a:solidFill>
                  <a:srgbClr val="004F6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</a:t>
            </a:r>
            <a:r>
              <a:rPr lang="zh-CN" altLang="en-US" sz="1600" b="1" dirty="0">
                <a:solidFill>
                  <a:srgbClr val="004F6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b="1" dirty="0">
                <a:solidFill>
                  <a:srgbClr val="004F6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Issue</a:t>
            </a:r>
            <a:r>
              <a:rPr lang="zh-CN" altLang="en-US" sz="1600" b="1" dirty="0">
                <a:solidFill>
                  <a:srgbClr val="004F6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600" b="1" dirty="0">
                <a:solidFill>
                  <a:srgbClr val="004F6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Information: </a:t>
            </a:r>
          </a:p>
          <a:p>
            <a:pPr algn="just">
              <a:spcAft>
                <a:spcPts val="400"/>
              </a:spcAft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Human-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centred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AI puts human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behaviour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and experience at the heart of artificial intelligence research. We welcome original papers on topics in human-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centred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AI. The papers may be theoretical, empirical, or both. They may report new findings, or synthetically review the existing literature.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FB3F8E-D019-4F45-9033-8C042141C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969" y="1983935"/>
            <a:ext cx="1489953" cy="14899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5DBB76-E764-4303-8828-3F708336A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439" y="2028825"/>
            <a:ext cx="1428750" cy="1400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92B2AC-146D-BF51-F6B8-43C216282F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277" y="302176"/>
            <a:ext cx="3370520" cy="891377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BB229F6-74FC-C6E2-CC28-93C824856286}"/>
              </a:ext>
            </a:extLst>
          </p:cNvPr>
          <p:cNvSpPr txBox="1">
            <a:spLocks/>
          </p:cNvSpPr>
          <p:nvPr/>
        </p:nvSpPr>
        <p:spPr>
          <a:xfrm>
            <a:off x="481979" y="2814669"/>
            <a:ext cx="4754880" cy="131843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Dome, L. &amp; Wills, A.J. (2025). g-distance: On the comparison of model and human heterogeneity. </a:t>
            </a:r>
            <a:r>
              <a:rPr lang="en-GB" i="1"/>
              <a:t>Psychological Review, 132</a:t>
            </a:r>
            <a:r>
              <a:rPr lang="en-GB"/>
              <a:t>, 632–655.</a:t>
            </a:r>
            <a:endParaRPr lang="en-US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843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2988</TotalTime>
  <Words>388</Words>
  <Application>Microsoft Macintosh PowerPoint</Application>
  <PresentationFormat>Widescreen</PresentationFormat>
  <Paragraphs>50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Tw Cen MT</vt:lpstr>
      <vt:lpstr>Tw Cen MT Condensed</vt:lpstr>
      <vt:lpstr>Wingdings 3</vt:lpstr>
      <vt:lpstr>Integral</vt:lpstr>
      <vt:lpstr>G-distance  on the comparison of model and human heterogeneity</vt:lpstr>
      <vt:lpstr>What is a model?</vt:lpstr>
      <vt:lpstr>IS this model any good?</vt:lpstr>
      <vt:lpstr>Model adequacy as overlapping sets</vt:lpstr>
      <vt:lpstr>Model adequacy as overlapping sets</vt:lpstr>
      <vt:lpstr>G-distance</vt:lpstr>
      <vt:lpstr>Inverse base-rate effect</vt:lpstr>
      <vt:lpstr>Inverse base-rate effect</vt:lpstr>
      <vt:lpstr>MODELS OF THE IBRE</vt:lpstr>
      <vt:lpstr>Model adequacy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Wills</dc:creator>
  <cp:lastModifiedBy>Andy Wills</cp:lastModifiedBy>
  <cp:revision>7</cp:revision>
  <dcterms:created xsi:type="dcterms:W3CDTF">2025-01-07T09:42:56Z</dcterms:created>
  <dcterms:modified xsi:type="dcterms:W3CDTF">2025-09-04T19:07:51Z</dcterms:modified>
</cp:coreProperties>
</file>